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B07C67-9BD6-4F7E-AA03-B1574D4BF3BA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A458-A34C-EF08-BBEE-F4CAB0BBC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383466"/>
            <a:ext cx="8825658" cy="3329581"/>
          </a:xfrm>
        </p:spPr>
        <p:txBody>
          <a:bodyPr anchor="ctr"/>
          <a:lstStyle/>
          <a:p>
            <a:pPr algn="ctr"/>
            <a:br>
              <a:rPr lang="es-CO" sz="4400" dirty="0"/>
            </a:br>
            <a:r>
              <a:rPr lang="es-CO" sz="4400" dirty="0"/>
              <a:t>Tipos de Gráficos y su Función en el Análisis Exploratorio de Datos con Python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249E84-2B96-301C-9987-E7EF40908B10}"/>
              </a:ext>
            </a:extLst>
          </p:cNvPr>
          <p:cNvSpPr txBox="1">
            <a:spLocks/>
          </p:cNvSpPr>
          <p:nvPr/>
        </p:nvSpPr>
        <p:spPr>
          <a:xfrm>
            <a:off x="1683169" y="4434840"/>
            <a:ext cx="8825659" cy="16343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CO" sz="1050" b="1" dirty="0"/>
              <a:t>Johnnatan Villaneda Navarro</a:t>
            </a:r>
          </a:p>
          <a:p>
            <a:pPr algn="ctr"/>
            <a:endParaRPr lang="es-CO" sz="1050" dirty="0"/>
          </a:p>
          <a:p>
            <a:pPr algn="ctr"/>
            <a:r>
              <a:rPr lang="es-CO" sz="1050" dirty="0"/>
              <a:t>Curso</a:t>
            </a:r>
          </a:p>
          <a:p>
            <a:pPr algn="ctr"/>
            <a:r>
              <a:rPr lang="es-CO" sz="1050" b="1" dirty="0"/>
              <a:t>Análisis Exploratorio de Datos con Python</a:t>
            </a:r>
          </a:p>
          <a:p>
            <a:pPr algn="ctr"/>
            <a:endParaRPr lang="es-CO" sz="1050" dirty="0"/>
          </a:p>
          <a:p>
            <a:pPr algn="ctr"/>
            <a:endParaRPr lang="es-CO" sz="1050" dirty="0"/>
          </a:p>
          <a:p>
            <a:pPr algn="ctr"/>
            <a:r>
              <a:rPr lang="es-CO" sz="1050" dirty="0"/>
              <a:t>Docente</a:t>
            </a:r>
          </a:p>
          <a:p>
            <a:pPr algn="ctr"/>
            <a:r>
              <a:rPr lang="es-CO" sz="1050" b="1" dirty="0"/>
              <a:t>Luz Maryuri Gara Álvarez</a:t>
            </a:r>
          </a:p>
          <a:p>
            <a:pPr algn="ctr"/>
            <a:endParaRPr lang="es-CO" sz="1050" dirty="0"/>
          </a:p>
          <a:p>
            <a:pPr algn="ctr"/>
            <a:r>
              <a:rPr lang="es-CO" sz="1050" dirty="0"/>
              <a:t>Julio 2026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410043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390E99-ED1A-F515-4F40-ABBE4DB04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2" y="1854192"/>
            <a:ext cx="4580598" cy="1574808"/>
          </a:xfrm>
        </p:spPr>
        <p:txBody>
          <a:bodyPr anchor="ctr"/>
          <a:lstStyle/>
          <a:p>
            <a:pPr algn="ctr"/>
            <a:r>
              <a:rPr lang="es-CO" dirty="0"/>
              <a:t>Objetivo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A59BF-05C4-CAEA-7B09-FABBCD46E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682" y="3749040"/>
            <a:ext cx="5007317" cy="1371600"/>
          </a:xfrm>
        </p:spPr>
        <p:txBody>
          <a:bodyPr anchor="ctr"/>
          <a:lstStyle/>
          <a:p>
            <a:pPr algn="just"/>
            <a:r>
              <a:rPr lang="es-CO" dirty="0"/>
              <a:t>Explicar la importancia de la visualización de datos en la fase de exploración utilizando librerías como </a:t>
            </a:r>
            <a:r>
              <a:rPr lang="es-CO" dirty="0" err="1"/>
              <a:t>matplotlib</a:t>
            </a:r>
            <a:r>
              <a:rPr lang="es-CO" dirty="0"/>
              <a:t> y </a:t>
            </a:r>
            <a:r>
              <a:rPr lang="es-CO" dirty="0" err="1"/>
              <a:t>seaborn</a:t>
            </a:r>
            <a:r>
              <a:rPr lang="es-CO" dirty="0"/>
              <a:t>.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53844DE2-DFB8-8F99-581B-6418717B78E1}"/>
              </a:ext>
            </a:extLst>
          </p:cNvPr>
          <p:cNvSpPr txBox="1">
            <a:spLocks/>
          </p:cNvSpPr>
          <p:nvPr/>
        </p:nvSpPr>
        <p:spPr>
          <a:xfrm>
            <a:off x="6522720" y="1854192"/>
            <a:ext cx="4580598" cy="1574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CO" dirty="0"/>
              <a:t>Resumen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15F411D-67B4-E0E3-A3AF-FF9490A299FE}"/>
              </a:ext>
            </a:extLst>
          </p:cNvPr>
          <p:cNvSpPr txBox="1">
            <a:spLocks/>
          </p:cNvSpPr>
          <p:nvPr/>
        </p:nvSpPr>
        <p:spPr>
          <a:xfrm>
            <a:off x="6522719" y="3749040"/>
            <a:ext cx="458059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r>
              <a:rPr lang="es-CO" dirty="0"/>
              <a:t>La visualización permite identificar patrones, distribuciones, relaciones entre variables y datos atípicos (</a:t>
            </a:r>
            <a:r>
              <a:rPr lang="es-CO" i="1" dirty="0" err="1"/>
              <a:t>outliers</a:t>
            </a:r>
            <a:r>
              <a:rPr lang="es-CO" dirty="0"/>
              <a:t>) de forma rápida e intuitiva.</a:t>
            </a:r>
          </a:p>
        </p:txBody>
      </p:sp>
    </p:spTree>
    <p:extLst>
      <p:ext uri="{BB962C8B-B14F-4D97-AF65-F5344CB8AC3E}">
        <p14:creationId xmlns:p14="http://schemas.microsoft.com/office/powerpoint/2010/main" val="409183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5550C-AAB4-9F44-DB33-4B7BD021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Gráfico de Barras</a:t>
            </a:r>
            <a:br>
              <a:rPr lang="en-US" sz="3600"/>
            </a:br>
            <a:r>
              <a:rPr lang="en-US" sz="3600"/>
              <a:t>(Bar Plot)</a:t>
            </a:r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2142F58F-1A18-445C-8057-25B9F986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2C8825F8-2BBE-4F09-844D-BD569EE90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0B305D-E4F9-4F9F-81CA-BDFBA88B2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BE0C63-8F2A-21E4-8EF3-D7B87C11C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10" y="1464367"/>
            <a:ext cx="5449471" cy="1049994"/>
          </a:xfrm>
          <a:prstGeom prst="rect">
            <a:avLst/>
          </a:prstGeom>
          <a:effectLst/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D77C917-B31B-4151-9BB3-768748C42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648C7-9E9B-0462-191C-6C2863F75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 err="1"/>
              <a:t>Función</a:t>
            </a:r>
            <a:r>
              <a:rPr lang="en-US" dirty="0"/>
              <a:t>: </a:t>
            </a:r>
            <a:r>
              <a:rPr lang="en-US" dirty="0" err="1"/>
              <a:t>Compara</a:t>
            </a:r>
            <a:r>
              <a:rPr lang="en-US" dirty="0"/>
              <a:t> variables </a:t>
            </a:r>
            <a:r>
              <a:rPr lang="en-US" dirty="0" err="1"/>
              <a:t>categóricas</a:t>
            </a:r>
            <a:r>
              <a:rPr lang="en-US" dirty="0"/>
              <a:t> </a:t>
            </a:r>
            <a:r>
              <a:rPr lang="en-US" dirty="0" err="1"/>
              <a:t>mostrando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métrica</a:t>
            </a:r>
            <a:r>
              <a:rPr lang="en-US" dirty="0"/>
              <a:t> </a:t>
            </a:r>
            <a:r>
              <a:rPr lang="en-US" dirty="0" err="1"/>
              <a:t>agregada</a:t>
            </a:r>
            <a:r>
              <a:rPr lang="en-US" dirty="0"/>
              <a:t> (</a:t>
            </a:r>
            <a:r>
              <a:rPr lang="en-US" dirty="0" err="1"/>
              <a:t>como</a:t>
            </a:r>
            <a:r>
              <a:rPr lang="en-US" dirty="0"/>
              <a:t> la </a:t>
            </a:r>
            <a:r>
              <a:rPr lang="en-US" dirty="0" err="1"/>
              <a:t>suma</a:t>
            </a:r>
            <a:r>
              <a:rPr lang="en-US" dirty="0"/>
              <a:t> o el </a:t>
            </a:r>
            <a:r>
              <a:rPr lang="en-US" dirty="0" err="1"/>
              <a:t>promedio</a:t>
            </a:r>
            <a:r>
              <a:rPr lang="en-US" dirty="0"/>
              <a:t>)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categoría</a:t>
            </a:r>
            <a:r>
              <a:rPr lang="en-US" dirty="0"/>
              <a:t>.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¿Por qué se eligió?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Es el grafico ideal para comparar una variable numérica acumulable (Ingresos) a través de categorías (Regiones), permitiendo identificar visualmente y de un vistazo la categoría con un mayor y menor impacto.</a:t>
            </a:r>
          </a:p>
          <a:p>
            <a:pPr>
              <a:buFont typeface="Wingdings 3" charset="2"/>
              <a:buChar char=""/>
            </a:pPr>
            <a:r>
              <a:rPr lang="es-CO" b="1" dirty="0"/>
              <a:t>¿Qué se observa en el gráfico?</a:t>
            </a:r>
            <a:r>
              <a:rPr lang="es-CO" dirty="0"/>
              <a:t> 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Muestra el total recaudado por región. Se evidencia claramente que </a:t>
            </a:r>
            <a:r>
              <a:rPr lang="es-CO" b="1" dirty="0"/>
              <a:t>Cundinamarca encabeza los ingresos</a:t>
            </a:r>
            <a:r>
              <a:rPr lang="es-CO" dirty="0"/>
              <a:t> superando los $5.3M USD, mientras que las demás regiones mantienen un nivel similar entre los $4.0M y $4.3M USD.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DCB8EE-0E7E-73B7-1E30-B96753496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7164782" y="3526971"/>
            <a:ext cx="3308726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5905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8A1FC-4E01-FA04-4A02-AF4F4472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55B37-E8E8-49F9-70EA-6C33E42D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Histograma</a:t>
            </a:r>
          </a:p>
        </p:txBody>
      </p:sp>
      <p:sp>
        <p:nvSpPr>
          <p:cNvPr id="43" name="Freeform 23">
            <a:extLst>
              <a:ext uri="{FF2B5EF4-FFF2-40B4-BE49-F238E27FC236}">
                <a16:creationId xmlns:a16="http://schemas.microsoft.com/office/drawing/2014/main" id="{2142F58F-1A18-445C-8057-25B9F986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2C8825F8-2BBE-4F09-844D-BD569EE90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0B305D-E4F9-4F9F-81CA-BDFBA88B2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3F33A-1B76-D1E6-9DD5-966BF523F5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10" y="1411561"/>
            <a:ext cx="5449471" cy="1155605"/>
          </a:xfrm>
          <a:prstGeom prst="rect">
            <a:avLst/>
          </a:prstGeom>
          <a:effectLst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1D77C917-B31B-4151-9BB3-768748C42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515FF-AB06-DDB6-3582-A5E5B6614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 err="1"/>
              <a:t>Función</a:t>
            </a:r>
            <a:r>
              <a:rPr lang="en-US" dirty="0"/>
              <a:t>: </a:t>
            </a:r>
            <a:r>
              <a:rPr lang="en-US" dirty="0" err="1"/>
              <a:t>Muestra</a:t>
            </a:r>
            <a:r>
              <a:rPr lang="en-US" dirty="0"/>
              <a:t> la </a:t>
            </a:r>
            <a:r>
              <a:rPr lang="en-US" dirty="0" err="1"/>
              <a:t>distribución</a:t>
            </a:r>
            <a:r>
              <a:rPr lang="en-US" dirty="0"/>
              <a:t> de </a:t>
            </a: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sola variable </a:t>
            </a:r>
            <a:r>
              <a:rPr lang="en-US" dirty="0" err="1"/>
              <a:t>numérica</a:t>
            </a:r>
            <a:r>
              <a:rPr lang="en-US" dirty="0"/>
              <a:t> continua, </a:t>
            </a:r>
            <a:r>
              <a:rPr lang="en-US" dirty="0" err="1"/>
              <a:t>ayudando</a:t>
            </a:r>
            <a:r>
              <a:rPr lang="en-US" dirty="0"/>
              <a:t> a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sesgos</a:t>
            </a:r>
            <a:r>
              <a:rPr lang="en-US" dirty="0"/>
              <a:t> y la forma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¿Por qué se eligió?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Permite analizar la forma de la distribución de una variable continua (edad). La curva de densidad integrada (frecuencia) ayuda a determinar si los datos siguen una distribución normal o si existen sesgos poblacionales.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¿Qué se observa en el gráfico?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La distribución de edades de los asegurados es relativamente uniforme entre los 20 y los 60 años, con una concentración notablemente alta (un pico) en el grupo de jóvenes de 18 a 19 años.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DEDFF37-F94B-F7F9-FB49-34BB96985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7107556" y="3526971"/>
            <a:ext cx="3423178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9186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6EDA8-D3C3-440E-B0BE-E5B6CE5D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F21C6A46-9134-9DA5-0ABA-453851623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410745B-0706-68B9-7248-1408B9986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AB866A44-92D1-D58E-ECC4-4A8571880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5042C46-C475-F29B-065B-79B1DD925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0215D4D-97B9-3D36-3BDF-CF8A3A9B9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B3DDE16-93FC-251C-54F3-E23B519F0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10275-BF0B-DA37-517D-41F262F7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O" sz="3200" dirty="0"/>
              <a:t>Diagrama de Cajas </a:t>
            </a:r>
            <a:br>
              <a:rPr lang="es-CO" sz="3600" dirty="0"/>
            </a:br>
            <a:r>
              <a:rPr lang="es-CO" sz="3200" dirty="0"/>
              <a:t>(</a:t>
            </a:r>
            <a:r>
              <a:rPr lang="es-CO" sz="3200" i="1" dirty="0"/>
              <a:t>Box </a:t>
            </a:r>
            <a:r>
              <a:rPr lang="es-CO" sz="3200" i="1" dirty="0" err="1"/>
              <a:t>Plot</a:t>
            </a:r>
            <a:r>
              <a:rPr lang="es-CO" sz="3200" dirty="0"/>
              <a:t>)</a:t>
            </a:r>
            <a:endParaRPr lang="en-US" sz="3600" dirty="0"/>
          </a:p>
        </p:txBody>
      </p:sp>
      <p:sp>
        <p:nvSpPr>
          <p:cNvPr id="43" name="Freeform 23">
            <a:extLst>
              <a:ext uri="{FF2B5EF4-FFF2-40B4-BE49-F238E27FC236}">
                <a16:creationId xmlns:a16="http://schemas.microsoft.com/office/drawing/2014/main" id="{429E11F6-242A-EBC2-7191-76ADC2DD2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2C7158CA-5B17-2115-26CC-A21626858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2B3E21-16A9-4C95-F103-3F806982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28CB6-242C-E224-36FB-7FA8EF015B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4410" y="1551384"/>
            <a:ext cx="5449471" cy="875958"/>
          </a:xfrm>
          <a:prstGeom prst="rect">
            <a:avLst/>
          </a:prstGeom>
          <a:effectLst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0CE9DAD-A938-1E67-64FD-299E5D1B3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00C0C-CCF1-FF9A-A2F5-DAA24E268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Font typeface="Wingdings 3" charset="2"/>
              <a:buChar char=""/>
            </a:pPr>
            <a:r>
              <a:rPr lang="en-US" dirty="0" err="1"/>
              <a:t>Función</a:t>
            </a:r>
            <a:r>
              <a:rPr lang="en-US" dirty="0"/>
              <a:t>: </a:t>
            </a:r>
            <a:r>
              <a:rPr lang="es-CO" dirty="0"/>
              <a:t>Resume la distribución de una variable numérica mediante sus cuartiles e identifica visualmente los valores atípicos (</a:t>
            </a:r>
            <a:r>
              <a:rPr lang="es-CO" i="1" dirty="0" err="1"/>
              <a:t>outliers</a:t>
            </a:r>
            <a:r>
              <a:rPr lang="es-CO" dirty="0"/>
              <a:t>).</a:t>
            </a:r>
          </a:p>
          <a:p>
            <a:pPr>
              <a:buFont typeface="Wingdings 3" charset="2"/>
              <a:buChar char=""/>
            </a:pPr>
            <a:r>
              <a:rPr lang="es-CO" b="1" dirty="0"/>
              <a:t>¿Por qué se eligió?</a:t>
            </a:r>
            <a:endParaRPr lang="es-CO" dirty="0"/>
          </a:p>
          <a:p>
            <a:pPr>
              <a:buFont typeface="Wingdings 3" charset="2"/>
              <a:buChar char=""/>
            </a:pPr>
            <a:r>
              <a:rPr lang="es-CO" dirty="0"/>
              <a:t>Es la herramienta por excelencia para comparar distribuciones estadísticas (mediana, cuartiles, rango intercuartílico) entre grupos y detectar visualmente valores atípicos (</a:t>
            </a:r>
            <a:r>
              <a:rPr lang="es-CO" i="1" dirty="0" err="1"/>
              <a:t>outliers</a:t>
            </a:r>
            <a:r>
              <a:rPr lang="es-CO" dirty="0"/>
              <a:t>) o dispersión extrema.</a:t>
            </a:r>
          </a:p>
          <a:p>
            <a:pPr>
              <a:buFont typeface="Wingdings 3" charset="2"/>
              <a:buChar char=""/>
            </a:pPr>
            <a:r>
              <a:rPr lang="es-CO" b="1" dirty="0"/>
              <a:t>¿Qué se observa en el gráfico?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Muestra una marcada diferencia de costos: mientras que la mediana del valor del seguro para no fumadores está cerca de los $7,300 USD, para los fumadores se dispara por encima de los $34,000 USD, evidenciando el alto impacto financiero de la variable "fumador".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0BA550D-192B-5D53-9B83-5A67310B0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rcRect/>
          <a:stretch/>
        </p:blipFill>
        <p:spPr>
          <a:xfrm>
            <a:off x="7107556" y="3526971"/>
            <a:ext cx="3423178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6484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A5A2A-5969-B206-1CF7-DB79AA49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6E398CBA-41C5-BAB8-666B-55274D80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B1A17AF-2A89-4BEC-A06B-58CBBE6E9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1C2AA170-E170-5547-19FD-6CF92E138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B3EB3B5-C917-1FA2-72AE-694A955C9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C7E05C-CC17-6D61-719F-981183124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2BAD4BC-3779-05CB-03FA-7281CF39A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E8876-70CC-AA73-0DC4-BB4998199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O" sz="2800" dirty="0"/>
              <a:t>Gráfico de Dispersión</a:t>
            </a:r>
            <a:br>
              <a:rPr lang="es-CO" sz="2800" dirty="0"/>
            </a:br>
            <a:r>
              <a:rPr lang="es-CO" sz="2800" dirty="0"/>
              <a:t>(</a:t>
            </a:r>
            <a:r>
              <a:rPr lang="es-CO" sz="2800" dirty="0" err="1"/>
              <a:t>Scatter</a:t>
            </a:r>
            <a:r>
              <a:rPr lang="es-CO" sz="2800" dirty="0"/>
              <a:t> </a:t>
            </a:r>
            <a:r>
              <a:rPr lang="es-CO" sz="2800" dirty="0" err="1"/>
              <a:t>Plot</a:t>
            </a:r>
            <a:r>
              <a:rPr lang="es-CO" sz="2800" dirty="0"/>
              <a:t>)</a:t>
            </a:r>
            <a:endParaRPr lang="en-US" sz="3200" dirty="0"/>
          </a:p>
        </p:txBody>
      </p:sp>
      <p:sp>
        <p:nvSpPr>
          <p:cNvPr id="43" name="Freeform 23">
            <a:extLst>
              <a:ext uri="{FF2B5EF4-FFF2-40B4-BE49-F238E27FC236}">
                <a16:creationId xmlns:a16="http://schemas.microsoft.com/office/drawing/2014/main" id="{81F11082-12C7-9B66-6C0E-95F1D5632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4B3748EF-5EFC-0015-AF91-4142A204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7677DC-30C7-F700-3FB1-F8F87E90C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3FB7A-5601-76F3-FEFC-A524AE6AAC4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14658" y="1282544"/>
            <a:ext cx="4182442" cy="1141407"/>
          </a:xfrm>
          <a:prstGeom prst="rect">
            <a:avLst/>
          </a:prstGeom>
          <a:effectLst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A4EB6A7-92E6-C5EF-977B-7F1180C86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E0909-40FD-F43A-A966-242AF314B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 err="1"/>
              <a:t>Función</a:t>
            </a:r>
            <a:r>
              <a:rPr lang="en-US" dirty="0"/>
              <a:t>: </a:t>
            </a:r>
            <a:r>
              <a:rPr lang="es-CO" dirty="0"/>
              <a:t>Evalúa la relación o correlación entre dos variables numéricas continuas.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¿Por qué se eligió?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Permite evaluar la relación o correlación directa entre dos variables numéricas continuas (IMC vs. Valor del Seguro), sumando una tercera dimensión categórica mediante el color (</a:t>
            </a:r>
            <a:r>
              <a:rPr lang="es-CO" dirty="0" err="1"/>
              <a:t>hue</a:t>
            </a:r>
            <a:r>
              <a:rPr lang="es-CO" dirty="0"/>
              <a:t>='fumador’).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¿Qué se observa en el gráfico?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Se aprecian dos grupos o </a:t>
            </a:r>
            <a:r>
              <a:rPr lang="es-CO" b="1" dirty="0" err="1"/>
              <a:t>clusters</a:t>
            </a:r>
            <a:r>
              <a:rPr lang="es-CO" dirty="0"/>
              <a:t> claros: en las personas fumadoras con un IMC alto (mayor a 30), el costo del seguro se incrementa drásticamente superando los $30,000 USD, lo que confirma una interacción entre el riesgo médico y el precio de la prima.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0778379-5FD6-F5F2-3198-52A3F5F43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rcRect/>
          <a:stretch/>
        </p:blipFill>
        <p:spPr>
          <a:xfrm>
            <a:off x="7107556" y="3526971"/>
            <a:ext cx="3423178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2401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C6DD7-75ED-857B-9D4F-E3B312F6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DBD0DDE-B49E-8F8F-9DAF-389C84A99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CF729DF-446F-62DB-9433-5E2AF4C90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0DB8E0FD-146F-8F6C-1CD8-361E1519B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1F8F626-C531-687A-8122-CFC01F267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DD0046D-4354-AE66-42DC-F775164AE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FDAB0D1-3469-D026-7735-4C0ACFB80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C8C0C-342B-E7B7-96BC-1D0EC79A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O" dirty="0"/>
              <a:t>Mapa de Calor</a:t>
            </a:r>
            <a:br>
              <a:rPr lang="es-CO" dirty="0"/>
            </a:br>
            <a:r>
              <a:rPr lang="es-CO" dirty="0"/>
              <a:t>(</a:t>
            </a:r>
            <a:r>
              <a:rPr lang="es-CO" i="1" dirty="0" err="1"/>
              <a:t>Heatmap</a:t>
            </a:r>
            <a:r>
              <a:rPr lang="es-CO" dirty="0"/>
              <a:t> de Correlación)</a:t>
            </a:r>
            <a:endParaRPr lang="en-US" sz="2800" dirty="0"/>
          </a:p>
        </p:txBody>
      </p:sp>
      <p:sp>
        <p:nvSpPr>
          <p:cNvPr id="43" name="Freeform 23">
            <a:extLst>
              <a:ext uri="{FF2B5EF4-FFF2-40B4-BE49-F238E27FC236}">
                <a16:creationId xmlns:a16="http://schemas.microsoft.com/office/drawing/2014/main" id="{F24459F1-DF7C-48D6-29F6-7E2C7D76F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BECBD03E-F1BB-3375-530E-0F3830219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D80C24-9772-9ABA-D676-91CA479DF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2D43B-EB7D-5637-51B6-9C90D4A116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27924" y="1520998"/>
            <a:ext cx="4182442" cy="664500"/>
          </a:xfrm>
          <a:prstGeom prst="rect">
            <a:avLst/>
          </a:prstGeom>
          <a:effectLst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A613BC0-2346-A2E6-5356-EF8A72EC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D38B5-9BBD-2109-77F2-29E56AC31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 err="1"/>
              <a:t>Función</a:t>
            </a:r>
            <a:r>
              <a:rPr lang="en-US" dirty="0"/>
              <a:t>: </a:t>
            </a:r>
            <a:r>
              <a:rPr lang="es-CO" dirty="0"/>
              <a:t>Representa de manera gráfica la matriz de correlación entre múltiples variables numéricas mediante una escala de colores.</a:t>
            </a:r>
          </a:p>
          <a:p>
            <a:pPr>
              <a:buFont typeface="Wingdings 3" charset="2"/>
              <a:buChar char=""/>
            </a:pPr>
            <a:r>
              <a:rPr lang="es-CO" b="1" dirty="0"/>
              <a:t>¿Por qué se eligió?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Sintetiza las relaciones lineales entre múltiples variables cuantitativas al mismo tiempo mediante coeficientes de Pearson y una escala cromática intuitiva.</a:t>
            </a:r>
          </a:p>
          <a:p>
            <a:pPr>
              <a:buFont typeface="Wingdings 3" charset="2"/>
              <a:buChar char=""/>
            </a:pPr>
            <a:r>
              <a:rPr lang="es-CO" b="1" dirty="0"/>
              <a:t>¿Qué se observa en el gráfico?</a:t>
            </a:r>
          </a:p>
          <a:p>
            <a:pPr>
              <a:buFont typeface="Wingdings 3" charset="2"/>
              <a:buChar char=""/>
            </a:pPr>
            <a:r>
              <a:rPr lang="es-CO" dirty="0"/>
              <a:t>Muestra que la variable con mayor correlación positiva directa con el </a:t>
            </a:r>
            <a:r>
              <a:rPr lang="es-CO" i="1" dirty="0" err="1"/>
              <a:t>valor_seguro</a:t>
            </a:r>
            <a:r>
              <a:rPr lang="es-CO" dirty="0"/>
              <a:t> es la edad (aprox. 0.30), mientras que el número de </a:t>
            </a:r>
            <a:r>
              <a:rPr lang="es-CO" i="1" dirty="0"/>
              <a:t>hijos</a:t>
            </a:r>
            <a:r>
              <a:rPr lang="es-CO" dirty="0"/>
              <a:t> muestra una correlación casi nula con el costo del seguro.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17F229E-4EB0-8DA2-94B5-F619685FF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rcRect/>
          <a:stretch/>
        </p:blipFill>
        <p:spPr>
          <a:xfrm>
            <a:off x="7107556" y="3526971"/>
            <a:ext cx="3423178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994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A6EAFF-6170-BA0A-9D59-E8AEB58C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CO" dirty="0"/>
              <a:t>Conclusiones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CB7B87-DCE5-C284-513D-B807F7DB5B7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32947" y="2194560"/>
            <a:ext cx="2927350" cy="40617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"/>
            </a:pPr>
            <a:r>
              <a:rPr lang="es-CO" sz="1600" dirty="0"/>
              <a:t>La elección del gráfico adecuado depende directamente del tipo de variable (categórica o numérica) y la pregunta de negocio a responder.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214930B-4113-9682-E5BF-5FEEACDDF82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873500" y="2194560"/>
            <a:ext cx="2946400" cy="40617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"/>
            </a:pPr>
            <a:r>
              <a:rPr lang="es-CO" sz="1600" dirty="0"/>
              <a:t>Librerías como </a:t>
            </a:r>
            <a:r>
              <a:rPr lang="es-CO" sz="1600" b="1" dirty="0" err="1"/>
              <a:t>seaborn</a:t>
            </a:r>
            <a:r>
              <a:rPr lang="es-CO" sz="1600" dirty="0"/>
              <a:t> y </a:t>
            </a:r>
            <a:r>
              <a:rPr lang="es-CO" sz="1600" b="1" dirty="0" err="1"/>
              <a:t>matplotlib</a:t>
            </a:r>
            <a:r>
              <a:rPr lang="es-CO" sz="1600" dirty="0"/>
              <a:t> facilitan la creación de gráficos limpios y legibles para la toma de decisiones.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CACF70B-D84D-E629-D787-FFDF0A7512DF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124700" y="2194560"/>
            <a:ext cx="2932113" cy="40617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"/>
            </a:pPr>
            <a:r>
              <a:rPr lang="es-CO" sz="1600" dirty="0"/>
              <a:t>La combinación de gráficos </a:t>
            </a:r>
            <a:r>
              <a:rPr lang="es-CO" sz="1600" dirty="0" err="1"/>
              <a:t>univariados</a:t>
            </a:r>
            <a:r>
              <a:rPr lang="es-CO" sz="1600" dirty="0"/>
              <a:t> y bivariados proporciona una visión completa de la estructura del </a:t>
            </a:r>
            <a:r>
              <a:rPr lang="es-CO" sz="1600" b="1" dirty="0" err="1"/>
              <a:t>dataset</a:t>
            </a:r>
            <a:r>
              <a:rPr lang="es-CO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1521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</TotalTime>
  <Words>717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 Tipos de Gráficos y su Función en el Análisis Exploratorio de Datos con Python</vt:lpstr>
      <vt:lpstr>Objetivo</vt:lpstr>
      <vt:lpstr>Gráfico de Barras (Bar Plot)</vt:lpstr>
      <vt:lpstr>Histograma</vt:lpstr>
      <vt:lpstr>Diagrama de Cajas  (Box Plot)</vt:lpstr>
      <vt:lpstr>Gráfico de Dispersión (Scatter Plot)</vt:lpstr>
      <vt:lpstr>Mapa de Calor (Heatmap de Correlación)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Johnnatan Villaneda</dc:creator>
  <cp:lastModifiedBy>Johnnatan Villaneda</cp:lastModifiedBy>
  <cp:revision>4</cp:revision>
  <cp:lastPrinted>2026-07-28T03:01:55Z</cp:lastPrinted>
  <dcterms:created xsi:type="dcterms:W3CDTF">2026-07-27T23:12:55Z</dcterms:created>
  <dcterms:modified xsi:type="dcterms:W3CDTF">2026-07-28T03:05:35Z</dcterms:modified>
</cp:coreProperties>
</file>